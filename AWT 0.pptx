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8"/>
    <p:sldId id="267" r:id="rId19"/>
  </p:sldIdLst>
  <p:sldSz cy="5143500" cx="9144000"/>
  <p:notesSz cx="6858000" cy="9144000"/>
  <p:embeddedFontLst>
    <p:embeddedFont>
      <p:font typeface="Quattrocento Sans"/>
      <p:bold r:id="rId16"/>
      <p:boldItalic r:id="rId1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font" Target="fonts/QuattrocentoSans-bold.fntdata"/><Relationship Id="rId17" Type="http://schemas.openxmlformats.org/officeDocument/2006/relationships/font" Target="fonts/QuattrocentoSans-boldItalic.fntdata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035389a6_3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f8035389a6_32_7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f8035389a6_32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f8035389a6_32_8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f8035389a6_32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g3f8035389a6_32_9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8035389a6_32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f8035389a6_32_113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f8035389a6_32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g3f8035389a6_32_125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f8035389a6_3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g3f8035389a6_32_137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f8035389a6_32_1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f8035389a6_32_151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3f8035389a6_32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g3f8035389a6_32_169:notes"/>
          <p:cNvSpPr/>
          <p:nvPr>
            <p:ph idx="2" type="sldImg"/>
          </p:nvPr>
        </p:nvSpPr>
        <p:spPr>
          <a:xfrm>
            <a:off x="1143164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f6c86f658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f6c86f658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f6c86f658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4" name="Google Shape;324;g3f6c86f658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514364" y="1597819"/>
            <a:ext cx="5829455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028727" y="2914650"/>
            <a:ext cx="4800728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541749" y="3305175"/>
            <a:ext cx="5829455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541749" y="2180035"/>
            <a:ext cx="5829455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342909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3486243" y="1200150"/>
            <a:ext cx="3029031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342909" y="1151335"/>
            <a:ext cx="303022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342909" y="1631156"/>
            <a:ext cx="303022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3483862" y="1151335"/>
            <a:ext cx="3031412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3483862" y="1631156"/>
            <a:ext cx="3031412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342909" y="204788"/>
            <a:ext cx="2256295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2681359" y="204788"/>
            <a:ext cx="3833915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342909" y="1076325"/>
            <a:ext cx="2256295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344252" y="3600450"/>
            <a:ext cx="411491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344252" y="459581"/>
            <a:ext cx="411491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344252" y="4025503"/>
            <a:ext cx="411491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1731855" y="-188796"/>
            <a:ext cx="3394472" cy="617236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3549406" y="1628755"/>
            <a:ext cx="4388644" cy="1543091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406072" y="142815"/>
            <a:ext cx="4388644" cy="45149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42909" y="205978"/>
            <a:ext cx="6172365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42909" y="1200150"/>
            <a:ext cx="6172365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342909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2343212" y="4767263"/>
            <a:ext cx="2171758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4915031" y="4767263"/>
            <a:ext cx="1600243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571500" y="1047750"/>
            <a:ext cx="4191000" cy="3048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rgbClr val="2563EB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900"/>
              </a:spcBef>
              <a:spcAft>
                <a:spcPts val="0"/>
              </a:spcAft>
              <a:buNone/>
            </a:pPr>
            <a:r>
              <a:rPr b="1" lang="en" sz="38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STUDENT RENTAL HUB</a:t>
            </a:r>
            <a:endParaRPr b="1" sz="38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  <a:p>
            <a:pPr indent="0" lvl="0" marL="0" rtl="0" algn="l">
              <a:spcBef>
                <a:spcPts val="1500"/>
              </a:spcBef>
              <a:spcAft>
                <a:spcPts val="0"/>
              </a:spcAft>
              <a:buNone/>
            </a:pPr>
            <a:r>
              <a:rPr b="0" lang="en" sz="12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Design and Development of a Full-Stack Peer-to-Peer Rental and Sharing System for College Students using the MERN Stack.</a:t>
            </a:r>
            <a:endParaRPr b="0" sz="1250">
              <a:solidFill>
                <a:srgbClr val="475569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5143500" y="857250"/>
            <a:ext cx="3429000" cy="3429000"/>
          </a:xfrm>
          <a:prstGeom prst="roundRect">
            <a:avLst>
              <a:gd fmla="val 4444" name="adj"/>
            </a:avLst>
          </a:prstGeom>
          <a:solidFill>
            <a:srgbClr val="FFFFFF"/>
          </a:solidFill>
          <a:ln cap="flat" cmpd="sng" w="14300">
            <a:solidFill>
              <a:srgbClr val="E2E8F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524500" y="1095375"/>
            <a:ext cx="26670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Team Members</a:t>
            </a:r>
            <a:endParaRPr b="1" sz="1300">
              <a:solidFill>
                <a:srgbClr val="0F172A"/>
              </a:solidFill>
              <a:latin typeface="Quattrocento Sans"/>
              <a:ea typeface="Quattrocento Sans"/>
              <a:cs typeface="Quattrocento Sans"/>
              <a:sym typeface="Quattrocento Sans"/>
            </a:endParaRPr>
          </a:p>
        </p:txBody>
      </p:sp>
      <p:grpSp>
        <p:nvGrpSpPr>
          <p:cNvPr id="87" name="Google Shape;87;p13"/>
          <p:cNvGrpSpPr/>
          <p:nvPr/>
        </p:nvGrpSpPr>
        <p:grpSpPr>
          <a:xfrm>
            <a:off x="5524500" y="1524000"/>
            <a:ext cx="2590800" cy="404368"/>
            <a:chOff x="0" y="0"/>
            <a:chExt cx="2590800" cy="404368"/>
          </a:xfrm>
        </p:grpSpPr>
        <p:sp>
          <p:nvSpPr>
            <p:cNvPr id="88" name="Google Shape;88;p13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13"/>
            <p:cNvSpPr txBox="1"/>
            <p:nvPr/>
          </p:nvSpPr>
          <p:spPr>
            <a:xfrm>
              <a:off x="0" y="23368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6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495300" y="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Andrew John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B24CSB24</a:t>
              </a:r>
              <a:endParaRPr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91" name="Google Shape;91;p13"/>
          <p:cNvGrpSpPr/>
          <p:nvPr/>
        </p:nvGrpSpPr>
        <p:grpSpPr>
          <a:xfrm>
            <a:off x="5524500" y="2095500"/>
            <a:ext cx="2590800" cy="404368"/>
            <a:chOff x="0" y="0"/>
            <a:chExt cx="2590800" cy="404368"/>
          </a:xfrm>
        </p:grpSpPr>
        <p:sp>
          <p:nvSpPr>
            <p:cNvPr id="92" name="Google Shape;92;p13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13"/>
            <p:cNvSpPr txBox="1"/>
            <p:nvPr/>
          </p:nvSpPr>
          <p:spPr>
            <a:xfrm>
              <a:off x="0" y="23368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6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4" name="Google Shape;94;p13"/>
            <p:cNvSpPr txBox="1"/>
            <p:nvPr/>
          </p:nvSpPr>
          <p:spPr>
            <a:xfrm>
              <a:off x="495300" y="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Goutham K C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B24CSB37</a:t>
              </a:r>
              <a:endParaRPr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95" name="Google Shape;95;p13"/>
          <p:cNvGrpSpPr/>
          <p:nvPr/>
        </p:nvGrpSpPr>
        <p:grpSpPr>
          <a:xfrm>
            <a:off x="5524500" y="2667000"/>
            <a:ext cx="2590800" cy="404368"/>
            <a:chOff x="0" y="0"/>
            <a:chExt cx="2590800" cy="404368"/>
          </a:xfrm>
        </p:grpSpPr>
        <p:sp>
          <p:nvSpPr>
            <p:cNvPr id="96" name="Google Shape;96;p13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3"/>
            <p:cNvSpPr txBox="1"/>
            <p:nvPr/>
          </p:nvSpPr>
          <p:spPr>
            <a:xfrm>
              <a:off x="0" y="23368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6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98" name="Google Shape;98;p13"/>
            <p:cNvSpPr txBox="1"/>
            <p:nvPr/>
          </p:nvSpPr>
          <p:spPr>
            <a:xfrm>
              <a:off x="495300" y="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Harikesh A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B24CSB38</a:t>
              </a:r>
              <a:endParaRPr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99" name="Google Shape;99;p13"/>
          <p:cNvGrpSpPr/>
          <p:nvPr/>
        </p:nvGrpSpPr>
        <p:grpSpPr>
          <a:xfrm>
            <a:off x="5524500" y="3238500"/>
            <a:ext cx="2590800" cy="404368"/>
            <a:chOff x="0" y="0"/>
            <a:chExt cx="2590800" cy="404368"/>
          </a:xfrm>
        </p:grpSpPr>
        <p:sp>
          <p:nvSpPr>
            <p:cNvPr id="100" name="Google Shape;100;p13"/>
            <p:cNvSpPr/>
            <p:nvPr/>
          </p:nvSpPr>
          <p:spPr>
            <a:xfrm>
              <a:off x="0" y="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" name="Google Shape;101;p13"/>
            <p:cNvSpPr txBox="1"/>
            <p:nvPr/>
          </p:nvSpPr>
          <p:spPr>
            <a:xfrm>
              <a:off x="0" y="23368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6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person</a:t>
              </a:r>
              <a:endParaRPr sz="16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102" name="Google Shape;102;p13"/>
            <p:cNvSpPr txBox="1"/>
            <p:nvPr/>
          </p:nvSpPr>
          <p:spPr>
            <a:xfrm>
              <a:off x="495300" y="0"/>
              <a:ext cx="20955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Irene Treessa Raj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B24CSB40</a:t>
              </a:r>
              <a:endParaRPr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4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PROBLEM STATEMENT</a:t>
            </a:r>
            <a:endParaRPr sz="1100"/>
          </a:p>
        </p:txBody>
      </p:sp>
      <p:sp>
        <p:nvSpPr>
          <p:cNvPr id="108" name="Google Shape;108;p14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02 / 12</a:t>
            </a:r>
            <a:endParaRPr sz="1100"/>
          </a:p>
        </p:txBody>
      </p:sp>
      <p:grpSp>
        <p:nvGrpSpPr>
          <p:cNvPr id="110" name="Google Shape;110;p14"/>
          <p:cNvGrpSpPr/>
          <p:nvPr/>
        </p:nvGrpSpPr>
        <p:grpSpPr>
          <a:xfrm>
            <a:off x="548640" y="1238250"/>
            <a:ext cx="2495700" cy="3238500"/>
            <a:chOff x="0" y="0"/>
            <a:chExt cx="2495700" cy="3238500"/>
          </a:xfrm>
        </p:grpSpPr>
        <p:sp>
          <p:nvSpPr>
            <p:cNvPr id="111" name="Google Shape;111;p14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2" name="Google Shape;112;p14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13" name="Google Shape;113;p1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4" name="Google Shape;114;p14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15" name="Google Shape;115;p14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Financial Strain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College students frequently face high, non-recoverable upfront costs to buy essential resources like textbooks, lab tools, calculators, and bicycles.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These resources are typically required for only a single semester, making permanent purchases wasteful for tight student budgets.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16" name="Google Shape;116;p14"/>
          <p:cNvGrpSpPr/>
          <p:nvPr/>
        </p:nvGrpSpPr>
        <p:grpSpPr>
          <a:xfrm>
            <a:off x="3324225" y="1238250"/>
            <a:ext cx="2495700" cy="3238500"/>
            <a:chOff x="0" y="0"/>
            <a:chExt cx="2495700" cy="3238500"/>
          </a:xfrm>
        </p:grpSpPr>
        <p:sp>
          <p:nvSpPr>
            <p:cNvPr id="117" name="Google Shape;117;p14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18" name="Google Shape;118;p14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19" name="Google Shape;119;p1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14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hub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21" name="Google Shape;121;p14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No Centralized Hub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Generic public marketplaces are not optimized for low-value micro-rentals or short-term student lease periods.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Without a student-only platform, search is scattered randomly through unorganized WhatsApp or Telegram chats.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22" name="Google Shape;122;p14"/>
          <p:cNvGrpSpPr/>
          <p:nvPr/>
        </p:nvGrpSpPr>
        <p:grpSpPr>
          <a:xfrm>
            <a:off x="6099810" y="1238250"/>
            <a:ext cx="2495700" cy="3238500"/>
            <a:chOff x="0" y="0"/>
            <a:chExt cx="2495700" cy="3238500"/>
          </a:xfrm>
        </p:grpSpPr>
        <p:sp>
          <p:nvSpPr>
            <p:cNvPr id="123" name="Google Shape;123;p14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24" name="Google Shape;124;p14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25" name="Google Shape;125;p14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6" name="Google Shape;126;p14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gpp_bad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27" name="Google Shape;127;p14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Trust &amp; Safety Deficits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Existing public listing marketplaces lack verification gates, making students highly vulnerable to listing frauds and rental scams.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No secure, closed-loop platform dedicated exclusively to university verified student-to-student sharing exists.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5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PROJECT OBJECTIVES</a:t>
            </a:r>
            <a:endParaRPr sz="1100"/>
          </a:p>
        </p:txBody>
      </p:sp>
      <p:sp>
        <p:nvSpPr>
          <p:cNvPr id="133" name="Google Shape;133;p15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5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03 / 12</a:t>
            </a:r>
            <a:endParaRPr sz="1100"/>
          </a:p>
        </p:txBody>
      </p:sp>
      <p:grpSp>
        <p:nvGrpSpPr>
          <p:cNvPr id="135" name="Google Shape;135;p15"/>
          <p:cNvGrpSpPr/>
          <p:nvPr/>
        </p:nvGrpSpPr>
        <p:grpSpPr>
          <a:xfrm>
            <a:off x="548640" y="1095375"/>
            <a:ext cx="3905400" cy="1666800"/>
            <a:chOff x="0" y="0"/>
            <a:chExt cx="3905400" cy="1666800"/>
          </a:xfrm>
        </p:grpSpPr>
        <p:sp>
          <p:nvSpPr>
            <p:cNvPr id="136" name="Google Shape;136;p15"/>
            <p:cNvSpPr/>
            <p:nvPr/>
          </p:nvSpPr>
          <p:spPr>
            <a:xfrm>
              <a:off x="0" y="0"/>
              <a:ext cx="39054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" name="Google Shape;137;p15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38" name="Google Shape;138;p15"/>
            <p:cNvGrpSpPr/>
            <p:nvPr/>
          </p:nvGrpSpPr>
          <p:grpSpPr>
            <a:xfrm>
              <a:off x="152400" y="152400"/>
              <a:ext cx="381000" cy="407289"/>
              <a:chOff x="0" y="0"/>
              <a:chExt cx="381000" cy="407289"/>
            </a:xfrm>
          </p:grpSpPr>
          <p:sp>
            <p:nvSpPr>
              <p:cNvPr id="139" name="Google Shape;139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0" name="Google Shape;140;p15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shield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1" name="Google Shape;141;p15"/>
            <p:cNvSpPr txBox="1"/>
            <p:nvPr/>
          </p:nvSpPr>
          <p:spPr>
            <a:xfrm>
              <a:off x="3333750" y="15240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01</a:t>
              </a:r>
              <a:endParaRPr b="1" sz="14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42" name="Google Shape;142;p15"/>
            <p:cNvSpPr txBox="1"/>
            <p:nvPr/>
          </p:nvSpPr>
          <p:spPr>
            <a:xfrm>
              <a:off x="190500" y="61912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SECURE STUDENT VERIFICATION GATE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Restrict list creation and portal transactions solely to verified university students through institutional email validation (.edu / college email domains).</a:t>
              </a:r>
              <a:endParaRPr b="0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43" name="Google Shape;143;p15"/>
          <p:cNvGrpSpPr/>
          <p:nvPr/>
        </p:nvGrpSpPr>
        <p:grpSpPr>
          <a:xfrm>
            <a:off x="4682490" y="1095375"/>
            <a:ext cx="3905400" cy="1666800"/>
            <a:chOff x="0" y="0"/>
            <a:chExt cx="3905400" cy="1666800"/>
          </a:xfrm>
        </p:grpSpPr>
        <p:sp>
          <p:nvSpPr>
            <p:cNvPr id="144" name="Google Shape;144;p15"/>
            <p:cNvSpPr/>
            <p:nvPr/>
          </p:nvSpPr>
          <p:spPr>
            <a:xfrm>
              <a:off x="0" y="0"/>
              <a:ext cx="39054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15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46" name="Google Shape;146;p15"/>
            <p:cNvGrpSpPr/>
            <p:nvPr/>
          </p:nvGrpSpPr>
          <p:grpSpPr>
            <a:xfrm>
              <a:off x="152400" y="152400"/>
              <a:ext cx="381000" cy="407289"/>
              <a:chOff x="0" y="0"/>
              <a:chExt cx="381000" cy="407289"/>
            </a:xfrm>
          </p:grpSpPr>
          <p:sp>
            <p:nvSpPr>
              <p:cNvPr id="147" name="Google Shape;147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8" name="Google Shape;148;p15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storefront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49" name="Google Shape;149;p15"/>
            <p:cNvSpPr txBox="1"/>
            <p:nvPr/>
          </p:nvSpPr>
          <p:spPr>
            <a:xfrm>
              <a:off x="3333750" y="15240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02</a:t>
              </a:r>
              <a:endParaRPr b="1" sz="14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0" name="Google Shape;150;p15"/>
            <p:cNvSpPr txBox="1"/>
            <p:nvPr/>
          </p:nvSpPr>
          <p:spPr>
            <a:xfrm>
              <a:off x="190500" y="61912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P2P SHARING &amp; RENTAL MARKETPLACE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Establish an interactive, categorizable product catalog that facilitates textbook rentals, academic supplies sharing, and daily student utility hires.</a:t>
              </a:r>
              <a:endParaRPr b="0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1" name="Google Shape;151;p15"/>
          <p:cNvGrpSpPr/>
          <p:nvPr/>
        </p:nvGrpSpPr>
        <p:grpSpPr>
          <a:xfrm>
            <a:off x="548640" y="2952750"/>
            <a:ext cx="3905400" cy="1666800"/>
            <a:chOff x="0" y="0"/>
            <a:chExt cx="3905400" cy="1666800"/>
          </a:xfrm>
        </p:grpSpPr>
        <p:sp>
          <p:nvSpPr>
            <p:cNvPr id="152" name="Google Shape;152;p15"/>
            <p:cNvSpPr/>
            <p:nvPr/>
          </p:nvSpPr>
          <p:spPr>
            <a:xfrm>
              <a:off x="0" y="0"/>
              <a:ext cx="39054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5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54" name="Google Shape;154;p15"/>
            <p:cNvGrpSpPr/>
            <p:nvPr/>
          </p:nvGrpSpPr>
          <p:grpSpPr>
            <a:xfrm>
              <a:off x="152400" y="152400"/>
              <a:ext cx="381000" cy="407289"/>
              <a:chOff x="0" y="0"/>
              <a:chExt cx="381000" cy="407289"/>
            </a:xfrm>
          </p:grpSpPr>
          <p:sp>
            <p:nvSpPr>
              <p:cNvPr id="155" name="Google Shape;155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5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payments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57" name="Google Shape;157;p15"/>
            <p:cNvSpPr txBox="1"/>
            <p:nvPr/>
          </p:nvSpPr>
          <p:spPr>
            <a:xfrm>
              <a:off x="3333750" y="15240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03</a:t>
              </a:r>
              <a:endParaRPr b="1" sz="14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58" name="Google Shape;158;p15"/>
            <p:cNvSpPr txBox="1"/>
            <p:nvPr/>
          </p:nvSpPr>
          <p:spPr>
            <a:xfrm>
              <a:off x="190500" y="61912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TRANSACTION &amp; BOOKING WORKFLOWS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Develop structured transaction mechanisms for tracking rental requests, lease terms, security deposits, and booking lifecycles.</a:t>
              </a:r>
              <a:endParaRPr b="0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59" name="Google Shape;159;p15"/>
          <p:cNvGrpSpPr/>
          <p:nvPr/>
        </p:nvGrpSpPr>
        <p:grpSpPr>
          <a:xfrm>
            <a:off x="4682490" y="2952750"/>
            <a:ext cx="3905400" cy="1666800"/>
            <a:chOff x="0" y="0"/>
            <a:chExt cx="3905400" cy="1666800"/>
          </a:xfrm>
        </p:grpSpPr>
        <p:sp>
          <p:nvSpPr>
            <p:cNvPr id="160" name="Google Shape;160;p15"/>
            <p:cNvSpPr/>
            <p:nvPr/>
          </p:nvSpPr>
          <p:spPr>
            <a:xfrm>
              <a:off x="0" y="0"/>
              <a:ext cx="3905400" cy="1666800"/>
            </a:xfrm>
            <a:prstGeom prst="roundRect">
              <a:avLst>
                <a:gd fmla="val 6857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5"/>
            <p:cNvSpPr/>
            <p:nvPr/>
          </p:nvSpPr>
          <p:spPr>
            <a:xfrm>
              <a:off x="152400" y="152400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62" name="Google Shape;162;p15"/>
            <p:cNvGrpSpPr/>
            <p:nvPr/>
          </p:nvGrpSpPr>
          <p:grpSpPr>
            <a:xfrm>
              <a:off x="152400" y="152400"/>
              <a:ext cx="381000" cy="407289"/>
              <a:chOff x="0" y="0"/>
              <a:chExt cx="381000" cy="407289"/>
            </a:xfrm>
          </p:grpSpPr>
          <p:sp>
            <p:nvSpPr>
              <p:cNvPr id="163" name="Google Shape;163;p15"/>
              <p:cNvSpPr/>
              <p:nvPr/>
            </p:nvSpPr>
            <p:spPr>
              <a:xfrm>
                <a:off x="0" y="0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4" name="Google Shape;164;p15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layers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65" name="Google Shape;165;p15"/>
            <p:cNvSpPr txBox="1"/>
            <p:nvPr/>
          </p:nvSpPr>
          <p:spPr>
            <a:xfrm>
              <a:off x="3333750" y="152400"/>
              <a:ext cx="419100" cy="285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400">
                  <a:solidFill>
                    <a:srgbClr val="CBD5E1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04</a:t>
              </a:r>
              <a:endParaRPr b="1" sz="1400">
                <a:solidFill>
                  <a:srgbClr val="CBD5E1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  <p:sp>
          <p:nvSpPr>
            <p:cNvPr id="166" name="Google Shape;166;p15"/>
            <p:cNvSpPr txBox="1"/>
            <p:nvPr/>
          </p:nvSpPr>
          <p:spPr>
            <a:xfrm>
              <a:off x="190500" y="619125"/>
              <a:ext cx="3524400" cy="904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1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MODERN FULL-STACK MERN SYSTEM</a:t>
              </a:r>
              <a:endParaRPr b="1" sz="11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450"/>
                </a:spcBef>
                <a:spcAft>
                  <a:spcPts val="0"/>
                </a:spcAft>
                <a:buNone/>
              </a:pPr>
              <a:r>
                <a:rPr b="0" lang="en" sz="8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Deploy a responsive React interface driven by a secure Express/Node backend API, MongoDB database, and WebSockets (Socket.io) for instant negotiation.</a:t>
              </a:r>
              <a:endParaRPr b="0" sz="8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6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SOCIAL RELEVANCE</a:t>
            </a:r>
            <a:endParaRPr sz="1100"/>
          </a:p>
        </p:txBody>
      </p:sp>
      <p:sp>
        <p:nvSpPr>
          <p:cNvPr id="172" name="Google Shape;172;p16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6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04 / 12</a:t>
            </a:r>
            <a:endParaRPr sz="1100"/>
          </a:p>
        </p:txBody>
      </p:sp>
      <p:grpSp>
        <p:nvGrpSpPr>
          <p:cNvPr id="174" name="Google Shape;174;p16"/>
          <p:cNvGrpSpPr/>
          <p:nvPr/>
        </p:nvGrpSpPr>
        <p:grpSpPr>
          <a:xfrm>
            <a:off x="548640" y="1238250"/>
            <a:ext cx="2495700" cy="3238500"/>
            <a:chOff x="0" y="0"/>
            <a:chExt cx="2495700" cy="3238500"/>
          </a:xfrm>
        </p:grpSpPr>
        <p:sp>
          <p:nvSpPr>
            <p:cNvPr id="175" name="Google Shape;175;p16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76" name="Google Shape;176;p16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77" name="Google Shape;177;p16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16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savings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79" name="Google Shape;179;p16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Economic Affordability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Directly mitigates the rising costs of university living for low-income and budget-conscious college students.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By establishing a trusted peer-to-peer rental market, it ensures students rent textbooks and tools at a fraction of their purchase prices.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80" name="Google Shape;180;p16"/>
          <p:cNvGrpSpPr/>
          <p:nvPr/>
        </p:nvGrpSpPr>
        <p:grpSpPr>
          <a:xfrm>
            <a:off x="3324225" y="1238250"/>
            <a:ext cx="2495700" cy="3238500"/>
            <a:chOff x="0" y="0"/>
            <a:chExt cx="2495700" cy="3238500"/>
          </a:xfrm>
        </p:grpSpPr>
        <p:sp>
          <p:nvSpPr>
            <p:cNvPr id="181" name="Google Shape;181;p16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2" name="Google Shape;182;p16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83" name="Google Shape;183;p16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4" name="Google Shape;184;p16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05966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recycling</a:t>
                </a:r>
                <a:endParaRPr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85" name="Google Shape;185;p16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Circular Economy &amp; Ecology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Supports campus sustainability by reducing consumer product waste and manufacturing demands.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Promotes the sharing, reuse, and recycling of textbooks, electronics, cycles, and student furniture within college hubs.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186" name="Google Shape;186;p16"/>
          <p:cNvGrpSpPr/>
          <p:nvPr/>
        </p:nvGrpSpPr>
        <p:grpSpPr>
          <a:xfrm>
            <a:off x="6099810" y="1238250"/>
            <a:ext cx="2495700" cy="3238500"/>
            <a:chOff x="0" y="0"/>
            <a:chExt cx="2495700" cy="3238500"/>
          </a:xfrm>
        </p:grpSpPr>
        <p:sp>
          <p:nvSpPr>
            <p:cNvPr id="187" name="Google Shape;187;p16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80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188" name="Google Shape;188;p16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189" name="Google Shape;189;p16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0" name="Google Shape;190;p16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groups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191" name="Google Shape;191;p16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Peer Trust &amp; Cooperation</a:t>
              </a:r>
              <a:endParaRPr b="1" sz="13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Fosters a tight-knit campus community built on shared trust and peer-to-peer verification.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Enables collaborative consumption and mutual support, helping students network safely with peers and seniors.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REFERENCE &amp; CLONING SITES</a:t>
            </a:r>
            <a:endParaRPr sz="1100"/>
          </a:p>
        </p:txBody>
      </p:sp>
      <p:sp>
        <p:nvSpPr>
          <p:cNvPr id="197" name="Google Shape;197;p17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7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05 / 12</a:t>
            </a:r>
            <a:endParaRPr sz="1100"/>
          </a:p>
        </p:txBody>
      </p:sp>
      <p:grpSp>
        <p:nvGrpSpPr>
          <p:cNvPr id="199" name="Google Shape;199;p17"/>
          <p:cNvGrpSpPr/>
          <p:nvPr/>
        </p:nvGrpSpPr>
        <p:grpSpPr>
          <a:xfrm>
            <a:off x="548640" y="1238250"/>
            <a:ext cx="2495700" cy="3238500"/>
            <a:chOff x="0" y="0"/>
            <a:chExt cx="2495700" cy="3238500"/>
          </a:xfrm>
        </p:grpSpPr>
        <p:sp>
          <p:nvSpPr>
            <p:cNvPr id="200" name="Google Shape;200;p17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1" name="Google Shape;201;p17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202" name="Google Shape;202;p17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17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share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04" name="Google Shape;204;p17"/>
            <p:cNvGrpSpPr/>
            <p:nvPr/>
          </p:nvGrpSpPr>
          <p:grpSpPr>
            <a:xfrm>
              <a:off x="190500" y="714375"/>
              <a:ext cx="2114700" cy="2333700"/>
              <a:chOff x="0" y="0"/>
              <a:chExt cx="2114700" cy="2333700"/>
            </a:xfrm>
          </p:grpSpPr>
          <p:sp>
            <p:nvSpPr>
              <p:cNvPr id="205" name="Google Shape;205;p17"/>
              <p:cNvSpPr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7"/>
              <p:cNvSpPr txBox="1"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Fat Llama</a:t>
                </a:r>
                <a:endParaRPr b="1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REFERENCE MODEL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Peer-to-peer sharing marketplace for tools, cameras, and consumer goods.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CLONED WORKFLOWS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P2P owner listing registration.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Item location and radius search.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Safety deposit and rental protection model.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207" name="Google Shape;207;p17"/>
          <p:cNvGrpSpPr/>
          <p:nvPr/>
        </p:nvGrpSpPr>
        <p:grpSpPr>
          <a:xfrm>
            <a:off x="3324225" y="1238250"/>
            <a:ext cx="2495700" cy="3238500"/>
            <a:chOff x="0" y="0"/>
            <a:chExt cx="2495700" cy="3238500"/>
          </a:xfrm>
        </p:grpSpPr>
        <p:sp>
          <p:nvSpPr>
            <p:cNvPr id="208" name="Google Shape;208;p17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09" name="Google Shape;209;p17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210" name="Google Shape;210;p17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7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receipt_long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12" name="Google Shape;212;p17"/>
            <p:cNvGrpSpPr/>
            <p:nvPr/>
          </p:nvGrpSpPr>
          <p:grpSpPr>
            <a:xfrm>
              <a:off x="190500" y="714375"/>
              <a:ext cx="2114700" cy="2333700"/>
              <a:chOff x="0" y="0"/>
              <a:chExt cx="2114700" cy="2333700"/>
            </a:xfrm>
          </p:grpSpPr>
          <p:sp>
            <p:nvSpPr>
              <p:cNvPr id="213" name="Google Shape;213;p17"/>
              <p:cNvSpPr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4" name="Google Shape;214;p17"/>
              <p:cNvSpPr txBox="1"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Rentomojo</a:t>
                </a:r>
                <a:endParaRPr b="1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REFERENCE MODEL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B2C electronic, furniture, and appliance subscription rental hub.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CLONED WORKFLOWS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Item search catalog with filters.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Subscription rental calendar picker.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Deposit calculation and checkout logic.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  <p:grpSp>
        <p:nvGrpSpPr>
          <p:cNvPr id="215" name="Google Shape;215;p17"/>
          <p:cNvGrpSpPr/>
          <p:nvPr/>
        </p:nvGrpSpPr>
        <p:grpSpPr>
          <a:xfrm>
            <a:off x="6099810" y="1238250"/>
            <a:ext cx="2495700" cy="3238500"/>
            <a:chOff x="0" y="0"/>
            <a:chExt cx="2495700" cy="3238500"/>
          </a:xfrm>
        </p:grpSpPr>
        <p:sp>
          <p:nvSpPr>
            <p:cNvPr id="216" name="Google Shape;216;p17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17" name="Google Shape;217;p17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218" name="Google Shape;218;p17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9" name="Google Shape;219;p17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home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grpSp>
          <p:nvGrpSpPr>
            <p:cNvPr id="220" name="Google Shape;220;p17"/>
            <p:cNvGrpSpPr/>
            <p:nvPr/>
          </p:nvGrpSpPr>
          <p:grpSpPr>
            <a:xfrm>
              <a:off x="190500" y="714375"/>
              <a:ext cx="2114700" cy="2333700"/>
              <a:chOff x="0" y="0"/>
              <a:chExt cx="2114700" cy="2333700"/>
            </a:xfrm>
          </p:grpSpPr>
          <p:sp>
            <p:nvSpPr>
              <p:cNvPr id="221" name="Google Shape;221;p17"/>
              <p:cNvSpPr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7"/>
              <p:cNvSpPr txBox="1"/>
              <p:nvPr/>
            </p:nvSpPr>
            <p:spPr>
              <a:xfrm>
                <a:off x="0" y="0"/>
                <a:ext cx="2114700" cy="23337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b="1" lang="en" sz="1300">
                    <a:solidFill>
                      <a:srgbClr val="0F172A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Airbnb</a:t>
                </a:r>
                <a:endParaRPr b="1" sz="13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8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REFERENCE MODEL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200"/>
                  </a:spcBef>
                  <a:spcAft>
                    <a:spcPts val="0"/>
                  </a:spcAft>
                  <a:buNone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Double-sided peer-to-peer hosting and booking engine.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0" lvl="0" marL="0" rtl="0" algn="l">
                  <a:spcBef>
                    <a:spcPts val="1200"/>
                  </a:spcBef>
                  <a:spcAft>
                    <a:spcPts val="0"/>
                  </a:spcAft>
                  <a:buNone/>
                </a:pPr>
                <a:r>
                  <a:rPr b="1" lang="en" sz="750">
                    <a:solidFill>
                      <a:srgbClr val="2563EB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CLONED WORKFLOWS</a:t>
                </a:r>
                <a:endParaRPr b="1" sz="75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User review &amp; ratings framework.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Provider vs. Renter split dashboards.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  <a:p>
                <a:pPr indent="-285750" lvl="0" marL="457200" rtl="0" algn="l">
                  <a:spcBef>
                    <a:spcPts val="400"/>
                  </a:spcBef>
                  <a:spcAft>
                    <a:spcPts val="0"/>
                  </a:spcAft>
                  <a:buClr>
                    <a:srgbClr val="475569"/>
                  </a:buClr>
                  <a:buSzPts val="900"/>
                  <a:buFont typeface="Quattrocento Sans"/>
                  <a:buChar char="●"/>
                </a:pPr>
                <a:r>
                  <a:rPr b="0" lang="en" sz="900">
                    <a:solidFill>
                      <a:srgbClr val="475569"/>
                    </a:solidFill>
                    <a:latin typeface="Quattrocento Sans"/>
                    <a:ea typeface="Quattrocento Sans"/>
                    <a:cs typeface="Quattrocento Sans"/>
                    <a:sym typeface="Quattrocento Sans"/>
                  </a:rPr>
                  <a:t>Internal inbox messaging structure.</a:t>
                </a:r>
                <a:endParaRPr b="0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endParaRPr>
              </a:p>
            </p:txBody>
          </p:sp>
        </p:grp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8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EXPECTED OUTCOMES</a:t>
            </a:r>
            <a:endParaRPr sz="1100"/>
          </a:p>
        </p:txBody>
      </p:sp>
      <p:sp>
        <p:nvSpPr>
          <p:cNvPr id="228" name="Google Shape;228;p18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8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06 / 12</a:t>
            </a:r>
            <a:endParaRPr sz="1100"/>
          </a:p>
        </p:txBody>
      </p:sp>
      <p:grpSp>
        <p:nvGrpSpPr>
          <p:cNvPr id="230" name="Google Shape;230;p18"/>
          <p:cNvGrpSpPr/>
          <p:nvPr/>
        </p:nvGrpSpPr>
        <p:grpSpPr>
          <a:xfrm>
            <a:off x="548640" y="1238250"/>
            <a:ext cx="1857300" cy="3238500"/>
            <a:chOff x="0" y="0"/>
            <a:chExt cx="1857300" cy="3238500"/>
          </a:xfrm>
        </p:grpSpPr>
        <p:sp>
          <p:nvSpPr>
            <p:cNvPr id="231" name="Google Shape;231;p18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2" name="Google Shape;232;p18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233" name="Google Shape;233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4" name="Google Shape;234;p18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devices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35" name="Google Shape;235;p18"/>
            <p:cNvSpPr txBox="1"/>
            <p:nvPr/>
          </p:nvSpPr>
          <p:spPr>
            <a:xfrm>
              <a:off x="190500" y="714375"/>
              <a:ext cx="14763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Responsive Web App</a:t>
              </a:r>
              <a:endParaRPr b="1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 fully functional MERN web app featuring responsive dashboards that allow users to list items, toggle availability, and manage active bookings.</a:t>
              </a:r>
              <a:endParaRPr b="0" sz="9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36" name="Google Shape;236;p18"/>
          <p:cNvGrpSpPr/>
          <p:nvPr/>
        </p:nvGrpSpPr>
        <p:grpSpPr>
          <a:xfrm>
            <a:off x="2611755" y="1238250"/>
            <a:ext cx="1857300" cy="3238500"/>
            <a:chOff x="0" y="0"/>
            <a:chExt cx="1857300" cy="3238500"/>
          </a:xfrm>
        </p:grpSpPr>
        <p:sp>
          <p:nvSpPr>
            <p:cNvPr id="237" name="Google Shape;237;p18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38" name="Google Shape;238;p18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239" name="Google Shape;239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0" name="Google Shape;240;p18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05966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verified_user</a:t>
                </a:r>
                <a:endParaRPr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41" name="Google Shape;241;p18"/>
            <p:cNvSpPr txBox="1"/>
            <p:nvPr/>
          </p:nvSpPr>
          <p:spPr>
            <a:xfrm>
              <a:off x="190500" y="714375"/>
              <a:ext cx="14763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Verification Gate</a:t>
              </a:r>
              <a:endParaRPr b="1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 secure login protocol powered by JWT ensuring only users with active, verified college email addresses can participate.</a:t>
              </a:r>
              <a:endParaRPr b="0" sz="9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42" name="Google Shape;242;p18"/>
          <p:cNvGrpSpPr/>
          <p:nvPr/>
        </p:nvGrpSpPr>
        <p:grpSpPr>
          <a:xfrm>
            <a:off x="4674870" y="1238250"/>
            <a:ext cx="1857300" cy="3238500"/>
            <a:chOff x="0" y="0"/>
            <a:chExt cx="1857300" cy="3238500"/>
          </a:xfrm>
        </p:grpSpPr>
        <p:sp>
          <p:nvSpPr>
            <p:cNvPr id="243" name="Google Shape;243;p18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44" name="Google Shape;244;p18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245" name="Google Shape;245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8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forum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47" name="Google Shape;247;p18"/>
            <p:cNvSpPr txBox="1"/>
            <p:nvPr/>
          </p:nvSpPr>
          <p:spPr>
            <a:xfrm>
              <a:off x="190500" y="714375"/>
              <a:ext cx="14763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Negotiation Engine</a:t>
              </a:r>
              <a:endParaRPr b="1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An integrated WebSocket messenger that allows students to communicate, negotiate terms, and organize safe physical hand-offs in real-time.</a:t>
              </a:r>
              <a:endParaRPr b="0" sz="9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48" name="Google Shape;248;p18"/>
          <p:cNvGrpSpPr/>
          <p:nvPr/>
        </p:nvGrpSpPr>
        <p:grpSpPr>
          <a:xfrm>
            <a:off x="6737985" y="1238250"/>
            <a:ext cx="1857300" cy="3238500"/>
            <a:chOff x="0" y="0"/>
            <a:chExt cx="1857300" cy="3238500"/>
          </a:xfrm>
        </p:grpSpPr>
        <p:sp>
          <p:nvSpPr>
            <p:cNvPr id="249" name="Google Shape;249;p18"/>
            <p:cNvSpPr/>
            <p:nvPr/>
          </p:nvSpPr>
          <p:spPr>
            <a:xfrm>
              <a:off x="0" y="0"/>
              <a:ext cx="1857300" cy="3238500"/>
            </a:xfrm>
            <a:prstGeom prst="roundRect">
              <a:avLst>
                <a:gd fmla="val 6153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250" name="Google Shape;250;p18"/>
            <p:cNvGrpSpPr/>
            <p:nvPr/>
          </p:nvGrpSpPr>
          <p:grpSpPr>
            <a:xfrm>
              <a:off x="190500" y="190500"/>
              <a:ext cx="381000" cy="407289"/>
              <a:chOff x="0" y="0"/>
              <a:chExt cx="381000" cy="407289"/>
            </a:xfrm>
          </p:grpSpPr>
          <p:sp>
            <p:nvSpPr>
              <p:cNvPr id="251" name="Google Shape;251;p18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8"/>
              <p:cNvSpPr txBox="1"/>
              <p:nvPr/>
            </p:nvSpPr>
            <p:spPr>
              <a:xfrm>
                <a:off x="0" y="26289"/>
                <a:ext cx="381000" cy="381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storefront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253" name="Google Shape;253;p18"/>
            <p:cNvSpPr txBox="1"/>
            <p:nvPr/>
          </p:nvSpPr>
          <p:spPr>
            <a:xfrm>
              <a:off x="190500" y="714375"/>
              <a:ext cx="1476300" cy="23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Campus Marketplace</a:t>
              </a:r>
              <a:endParaRPr b="1" sz="120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 centralized rental hub consolidating equipment lists, rental status tracking, security deposits, and messaging under one modern dashboard.</a:t>
              </a:r>
              <a:endParaRPr b="0" sz="9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9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MAPPING WITH PROGRAM OUTCOMES (POS)</a:t>
            </a:r>
            <a:endParaRPr sz="1100"/>
          </a:p>
        </p:txBody>
      </p:sp>
      <p:sp>
        <p:nvSpPr>
          <p:cNvPr id="259" name="Google Shape;259;p19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9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07 / 12</a:t>
            </a:r>
            <a:endParaRPr sz="1100"/>
          </a:p>
        </p:txBody>
      </p:sp>
      <p:grpSp>
        <p:nvGrpSpPr>
          <p:cNvPr id="261" name="Google Shape;261;p19"/>
          <p:cNvGrpSpPr/>
          <p:nvPr/>
        </p:nvGrpSpPr>
        <p:grpSpPr>
          <a:xfrm>
            <a:off x="548640" y="1238250"/>
            <a:ext cx="2495700" cy="1571700"/>
            <a:chOff x="0" y="0"/>
            <a:chExt cx="2495700" cy="1571700"/>
          </a:xfrm>
        </p:grpSpPr>
        <p:sp>
          <p:nvSpPr>
            <p:cNvPr id="262" name="Google Shape;262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" name="Google Shape;263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" name="Google Shape;264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psychology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65" name="Google Shape;265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PO1: Engineering Knowledge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Applying core computer science and engineering specialization fundamentals to model database schemas (MongoDB) and construct secure API endpoints (Node/Express).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66" name="Google Shape;266;p19"/>
          <p:cNvGrpSpPr/>
          <p:nvPr/>
        </p:nvGrpSpPr>
        <p:grpSpPr>
          <a:xfrm>
            <a:off x="3324225" y="1238250"/>
            <a:ext cx="2495700" cy="1571700"/>
            <a:chOff x="0" y="0"/>
            <a:chExt cx="2495700" cy="1571700"/>
          </a:xfrm>
        </p:grpSpPr>
        <p:sp>
          <p:nvSpPr>
            <p:cNvPr id="267" name="Google Shape;267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" name="Google Shape;268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analytics</a:t>
              </a:r>
              <a:endParaRPr sz="1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0" name="Google Shape;270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PO2: Problem Analysis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Identifying and formulating system requirements to resolve campus product sharing and rental challenges through a verified, centralized web application.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71" name="Google Shape;271;p19"/>
          <p:cNvGrpSpPr/>
          <p:nvPr/>
        </p:nvGrpSpPr>
        <p:grpSpPr>
          <a:xfrm>
            <a:off x="6099810" y="1238250"/>
            <a:ext cx="2495700" cy="1571700"/>
            <a:chOff x="0" y="0"/>
            <a:chExt cx="2495700" cy="1571700"/>
          </a:xfrm>
        </p:grpSpPr>
        <p:sp>
          <p:nvSpPr>
            <p:cNvPr id="272" name="Google Shape;272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" name="Google Shape;273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architecture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75" name="Google Shape;275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PO3: Design of Solutions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Designing secure components (JWT authorization gate, product catalog calendar, and Socket.io messaging) with appropriate consideration for user safety.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76" name="Google Shape;276;p19"/>
          <p:cNvGrpSpPr/>
          <p:nvPr/>
        </p:nvGrpSpPr>
        <p:grpSpPr>
          <a:xfrm>
            <a:off x="548640" y="2952750"/>
            <a:ext cx="2495700" cy="1571700"/>
            <a:chOff x="0" y="0"/>
            <a:chExt cx="2495700" cy="1571700"/>
          </a:xfrm>
        </p:grpSpPr>
        <p:sp>
          <p:nvSpPr>
            <p:cNvPr id="277" name="Google Shape;277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construction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0" name="Google Shape;280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PO5: Engineering Tool Usage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Utilizing modern software engineering tools including the MERN Stack, VS Code, GitHub, Postman, and cloud environments to build robust workflows.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1" name="Google Shape;281;p19"/>
          <p:cNvGrpSpPr/>
          <p:nvPr/>
        </p:nvGrpSpPr>
        <p:grpSpPr>
          <a:xfrm>
            <a:off x="3324225" y="2952750"/>
            <a:ext cx="2495700" cy="1571700"/>
            <a:chOff x="0" y="0"/>
            <a:chExt cx="2495700" cy="1571700"/>
          </a:xfrm>
        </p:grpSpPr>
        <p:sp>
          <p:nvSpPr>
            <p:cNvPr id="282" name="Google Shape;282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" name="Google Shape;283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FF6FF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" name="Google Shape;284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groups</a:t>
              </a:r>
              <a:endParaRPr sz="1800">
                <a:solidFill>
                  <a:srgbClr val="2563EB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85" name="Google Shape;285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PO8: Collaborative Team Work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Functioning effectively in a 4-member team, dividing milestones across front-end, back-end, database schema design, testing, and project documentation.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286" name="Google Shape;286;p19"/>
          <p:cNvGrpSpPr/>
          <p:nvPr/>
        </p:nvGrpSpPr>
        <p:grpSpPr>
          <a:xfrm>
            <a:off x="6099810" y="2952750"/>
            <a:ext cx="2495700" cy="1571700"/>
            <a:chOff x="0" y="0"/>
            <a:chExt cx="2495700" cy="1571700"/>
          </a:xfrm>
        </p:grpSpPr>
        <p:sp>
          <p:nvSpPr>
            <p:cNvPr id="287" name="Google Shape;287;p19"/>
            <p:cNvSpPr/>
            <p:nvPr/>
          </p:nvSpPr>
          <p:spPr>
            <a:xfrm>
              <a:off x="0" y="0"/>
              <a:ext cx="2495700" cy="1571700"/>
            </a:xfrm>
            <a:prstGeom prst="roundRect">
              <a:avLst>
                <a:gd fmla="val 7272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" name="Google Shape;288;p19"/>
            <p:cNvSpPr/>
            <p:nvPr/>
          </p:nvSpPr>
          <p:spPr>
            <a:xfrm>
              <a:off x="142875" y="142875"/>
              <a:ext cx="381000" cy="381000"/>
            </a:xfrm>
            <a:prstGeom prst="ellipse">
              <a:avLst/>
            </a:prstGeom>
            <a:solidFill>
              <a:srgbClr val="ECFDF5"/>
            </a:solid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" name="Google Shape;289;p19"/>
            <p:cNvSpPr txBox="1"/>
            <p:nvPr/>
          </p:nvSpPr>
          <p:spPr>
            <a:xfrm>
              <a:off x="142875" y="169164"/>
              <a:ext cx="381000" cy="38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rPr>
                <a:t>update</a:t>
              </a:r>
              <a:endParaRPr sz="1800">
                <a:solidFill>
                  <a:srgbClr val="059669"/>
                </a:solidFill>
                <a:latin typeface="Material Icons"/>
                <a:ea typeface="Material Icons"/>
                <a:cs typeface="Material Icons"/>
                <a:sym typeface="Material Icons"/>
              </a:endParaRPr>
            </a:p>
          </p:txBody>
        </p:sp>
        <p:sp>
          <p:nvSpPr>
            <p:cNvPr id="290" name="Google Shape;290;p19"/>
            <p:cNvSpPr txBox="1"/>
            <p:nvPr/>
          </p:nvSpPr>
          <p:spPr>
            <a:xfrm>
              <a:off x="142875" y="619125"/>
              <a:ext cx="2209800" cy="8574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050">
                  <a:solidFill>
                    <a:srgbClr val="0F172A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PO11: Life-Long Learning</a:t>
              </a:r>
              <a:endParaRPr b="1" sz="1050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300"/>
                </a:spcBef>
                <a:spcAft>
                  <a:spcPts val="0"/>
                </a:spcAft>
                <a:buNone/>
              </a:pPr>
              <a:r>
                <a:rPr b="0" lang="en" sz="80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Engaging in self-directed learning of emerging full-stack paradigms, token authentication (JWT), and real-time WebSocket communication.</a:t>
              </a:r>
              <a:endParaRPr b="0" sz="80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0"/>
          <p:cNvSpPr txBox="1"/>
          <p:nvPr/>
        </p:nvSpPr>
        <p:spPr>
          <a:xfrm>
            <a:off x="548655" y="342900"/>
            <a:ext cx="6858300" cy="311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0" spcFirstLastPara="1" rIns="68575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800" u="none" cap="none" strike="noStrike">
                <a:solidFill>
                  <a:srgbClr val="0F172A"/>
                </a:solidFill>
                <a:latin typeface="Quattrocento Sans"/>
                <a:ea typeface="Quattrocento Sans"/>
                <a:cs typeface="Quattrocento Sans"/>
                <a:sym typeface="Quattrocento Sans"/>
              </a:rPr>
              <a:t>MAPPING WITH SDGS</a:t>
            </a:r>
            <a:endParaRPr sz="1100"/>
          </a:p>
        </p:txBody>
      </p:sp>
      <p:sp>
        <p:nvSpPr>
          <p:cNvPr id="296" name="Google Shape;296;p20"/>
          <p:cNvSpPr/>
          <p:nvPr/>
        </p:nvSpPr>
        <p:spPr>
          <a:xfrm>
            <a:off x="548655" y="788670"/>
            <a:ext cx="548700" cy="27300"/>
          </a:xfrm>
          <a:prstGeom prst="rect">
            <a:avLst/>
          </a:prstGeom>
          <a:solidFill>
            <a:srgbClr val="2563EB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20"/>
          <p:cNvSpPr txBox="1"/>
          <p:nvPr/>
        </p:nvSpPr>
        <p:spPr>
          <a:xfrm>
            <a:off x="7886910" y="342900"/>
            <a:ext cx="685800" cy="1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94A3B8"/>
                </a:solidFill>
                <a:latin typeface="Segoe UI"/>
              </a:rPr>
              <a:t>08 / 12</a:t>
            </a:r>
            <a:endParaRPr sz="1100"/>
          </a:p>
        </p:txBody>
      </p:sp>
      <p:grpSp>
        <p:nvGrpSpPr>
          <p:cNvPr id="298" name="Google Shape;298;p20"/>
          <p:cNvGrpSpPr/>
          <p:nvPr/>
        </p:nvGrpSpPr>
        <p:grpSpPr>
          <a:xfrm>
            <a:off x="548640" y="1238250"/>
            <a:ext cx="2495700" cy="3238500"/>
            <a:chOff x="0" y="0"/>
            <a:chExt cx="2495700" cy="3238500"/>
          </a:xfrm>
        </p:grpSpPr>
        <p:sp>
          <p:nvSpPr>
            <p:cNvPr id="299" name="Google Shape;299;p20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0" name="Google Shape;300;p20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301" name="Google Shape;301;p20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20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school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03" name="Google Shape;303;p20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SDG 4: Quality Education</a:t>
              </a:r>
              <a:endParaRPr b="1" sz="120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Helps lower educational cost barriers by facilitating peer-to-peer sharing and rental of expensive academic books, calculators, and lab instruments.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This ensures students from underprivileged economic backgrounds have affordable, equal access to high-quality learning materials.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04" name="Google Shape;304;p20"/>
          <p:cNvGrpSpPr/>
          <p:nvPr/>
        </p:nvGrpSpPr>
        <p:grpSpPr>
          <a:xfrm>
            <a:off x="3324225" y="1238250"/>
            <a:ext cx="2495700" cy="3238500"/>
            <a:chOff x="0" y="0"/>
            <a:chExt cx="2495700" cy="3238500"/>
          </a:xfrm>
        </p:grpSpPr>
        <p:sp>
          <p:nvSpPr>
            <p:cNvPr id="305" name="Google Shape;305;p20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06" name="Google Shape;306;p20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307" name="Google Shape;307;p20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CFDF5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20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059669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lightbulb</a:t>
                </a:r>
                <a:endParaRPr sz="1800">
                  <a:solidFill>
                    <a:srgbClr val="059669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09" name="Google Shape;309;p20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0596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SDG 9: Industry &amp; Infrastructure</a:t>
              </a:r>
              <a:endParaRPr b="1" sz="1200">
                <a:solidFill>
                  <a:srgbClr val="0596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Fosters technical innovation and resilient campus micro-infrastructures by designing a localized peer-to-peer digital sharing portal.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Establishes an effective model for small-scale item leasing, proving how digital solutions can streamline localized resource distribution.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  <p:grpSp>
        <p:nvGrpSpPr>
          <p:cNvPr id="310" name="Google Shape;310;p20"/>
          <p:cNvGrpSpPr/>
          <p:nvPr/>
        </p:nvGrpSpPr>
        <p:grpSpPr>
          <a:xfrm>
            <a:off x="6099810" y="1238250"/>
            <a:ext cx="2495700" cy="3238500"/>
            <a:chOff x="0" y="0"/>
            <a:chExt cx="2495700" cy="3238500"/>
          </a:xfrm>
        </p:grpSpPr>
        <p:sp>
          <p:nvSpPr>
            <p:cNvPr id="311" name="Google Shape;311;p20"/>
            <p:cNvSpPr/>
            <p:nvPr/>
          </p:nvSpPr>
          <p:spPr>
            <a:xfrm>
              <a:off x="0" y="0"/>
              <a:ext cx="2495700" cy="3238500"/>
            </a:xfrm>
            <a:prstGeom prst="roundRect">
              <a:avLst>
                <a:gd fmla="val 4579" name="adj"/>
              </a:avLst>
            </a:prstGeom>
            <a:solidFill>
              <a:srgbClr val="FFFFFF"/>
            </a:solidFill>
            <a:ln cap="flat" cmpd="sng" w="14300">
              <a:solidFill>
                <a:srgbClr val="E2E8F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12" name="Google Shape;312;p20"/>
            <p:cNvGrpSpPr/>
            <p:nvPr/>
          </p:nvGrpSpPr>
          <p:grpSpPr>
            <a:xfrm>
              <a:off x="190500" y="190500"/>
              <a:ext cx="381000" cy="433578"/>
              <a:chOff x="0" y="0"/>
              <a:chExt cx="381000" cy="433578"/>
            </a:xfrm>
          </p:grpSpPr>
          <p:sp>
            <p:nvSpPr>
              <p:cNvPr id="313" name="Google Shape;313;p20"/>
              <p:cNvSpPr/>
              <p:nvPr/>
            </p:nvSpPr>
            <p:spPr>
              <a:xfrm>
                <a:off x="0" y="0"/>
                <a:ext cx="381000" cy="381000"/>
              </a:xfrm>
              <a:prstGeom prst="ellipse">
                <a:avLst/>
              </a:prstGeom>
              <a:solidFill>
                <a:srgbClr val="EFF6FF"/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20"/>
              <p:cNvSpPr txBox="1"/>
              <p:nvPr/>
            </p:nvSpPr>
            <p:spPr>
              <a:xfrm>
                <a:off x="0" y="52578"/>
                <a:ext cx="381000" cy="381000"/>
              </a:xfrm>
              <a:prstGeom prst="rect">
                <a:avLst/>
              </a:prstGeom>
              <a:solidFill>
                <a:srgbClr val="000000">
                  <a:alpha val="0"/>
                </a:srgbClr>
              </a:solidFill>
              <a:ln>
                <a:noFill/>
              </a:ln>
            </p:spPr>
            <p:txBody>
              <a:bodyPr anchorCtr="0" anchor="ctr" bIns="0" lIns="0" spcFirstLastPara="1" rIns="0" wrap="square" tIns="0">
                <a:noAutofit/>
              </a:bodyPr>
              <a:lstStyle/>
              <a:p>
                <a:pPr indent="0" lvl="0" marL="0" rtl="0" algn="ctr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800">
                    <a:solidFill>
                      <a:srgbClr val="2563EB"/>
                    </a:solidFill>
                    <a:latin typeface="Material Icons"/>
                    <a:ea typeface="Material Icons"/>
                    <a:cs typeface="Material Icons"/>
                    <a:sym typeface="Material Icons"/>
                  </a:rPr>
                  <a:t>recycling</a:t>
                </a:r>
                <a:endParaRPr sz="1800">
                  <a:solidFill>
                    <a:srgbClr val="2563EB"/>
                  </a:solidFill>
                  <a:latin typeface="Material Icons"/>
                  <a:ea typeface="Material Icons"/>
                  <a:cs typeface="Material Icons"/>
                  <a:sym typeface="Material Icons"/>
                </a:endParaRPr>
              </a:p>
            </p:txBody>
          </p:sp>
        </p:grpSp>
        <p:sp>
          <p:nvSpPr>
            <p:cNvPr id="315" name="Google Shape;315;p20"/>
            <p:cNvSpPr txBox="1"/>
            <p:nvPr/>
          </p:nvSpPr>
          <p:spPr>
            <a:xfrm>
              <a:off x="190500" y="714375"/>
              <a:ext cx="2114700" cy="2333700"/>
            </a:xfrm>
            <a:prstGeom prst="rect">
              <a:avLst/>
            </a:prstGeom>
            <a:solidFill>
              <a:srgbClr val="000000">
                <a:alpha val="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rgbClr val="2563EB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SDG 12: Responsible Consumption</a:t>
              </a:r>
              <a:endParaRPr b="1" sz="1200">
                <a:solidFill>
                  <a:srgbClr val="2563EB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90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Promotes a circular sharing economy within university ecosystems that encourages renting and resource-sharing over buying new consumer goods.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  <a:p>
              <a:pPr indent="0" lvl="0" marL="0" rtl="0" algn="l">
                <a:spcBef>
                  <a:spcPts val="750"/>
                </a:spcBef>
                <a:spcAft>
                  <a:spcPts val="0"/>
                </a:spcAft>
                <a:buNone/>
              </a:pPr>
              <a:r>
                <a:rPr b="0" lang="en" sz="950">
                  <a:solidFill>
                    <a:srgbClr val="475569"/>
                  </a:solidFill>
                  <a:latin typeface="Quattrocento Sans"/>
                  <a:ea typeface="Quattrocento Sans"/>
                  <a:cs typeface="Quattrocento Sans"/>
                  <a:sym typeface="Quattrocento Sans"/>
                </a:rPr>
                <a:t>Significantly reduces campus waste and carbon footprint, minimizing textbook e-waste and short-term consumer products.</a:t>
              </a:r>
              <a:endParaRPr b="0" sz="950">
                <a:solidFill>
                  <a:srgbClr val="475569"/>
                </a:solidFill>
                <a:latin typeface="Quattrocento Sans"/>
                <a:ea typeface="Quattrocento Sans"/>
                <a:cs typeface="Quattrocento Sans"/>
                <a:sym typeface="Quattrocento Sans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25" y="251225"/>
            <a:ext cx="5685676" cy="3960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93575" y="1951050"/>
            <a:ext cx="4792251" cy="3192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6" name="Google Shape;326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3867247" cy="4838699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78025" y="204725"/>
            <a:ext cx="30523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6928"/>
            <a:ext cx="11045952" cy="484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Frontend &amp; User Interaction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45952" cy="18288"/>
          </a:xfrm>
          <a:prstGeom prst="rect">
            <a:avLst/>
          </a:prstGeom>
          <a:solidFill>
            <a:srgbClr val="48F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66928"/>
            <a:ext cx="109728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11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5120640" cy="4114800"/>
          </a:xfrm>
          <a:prstGeom prst="roundRect">
            <a:avLst/>
          </a:prstGeom>
          <a:solidFill>
            <a:srgbClr val="0F2843"/>
          </a:solidFill>
          <a:ln w="19050">
            <a:solidFill>
              <a:srgbClr val="48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8FFD5"/>
                </a:solidFill>
                <a:latin typeface="Segoe UI"/>
              </a:defRPr>
            </a:pPr>
            <a:r>
              <a:t>JavaScript Coding &amp; Dynamic UI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Calculates rental prices, security deposits, and booking periods dynamically.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Page interfaces update instantly without reloading to ensure a smooth, modern student experience.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Safely manages user sessions, item lists, and active rental carts in browser memory.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39535" y="1645920"/>
            <a:ext cx="5120640" cy="4114800"/>
          </a:xfrm>
          <a:prstGeom prst="roundRect">
            <a:avLst/>
          </a:prstGeom>
          <a:solidFill>
            <a:srgbClr val="0F2843"/>
          </a:solidFill>
          <a:ln w="19050">
            <a:solidFill>
              <a:srgbClr val="48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68135" y="1874520"/>
            <a:ext cx="466344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8FFD5"/>
                </a:solidFill>
                <a:latin typeface="Segoe UI"/>
              </a:defRPr>
            </a:pPr>
            <a:r>
              <a:t>Interactive Forms &amp; Validation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Checks password strength and form completion before allowing account registration.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Enforces college verification gates by checking for valid student email domains.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Dynamic booking calendars prevent students from booking overlapping rental dates.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pic>
        <p:nvPicPr>
          <p:cNvPr id="3" name="Picture 2" descr="temp_theme_b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566928"/>
            <a:ext cx="11045952" cy="484632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"/>
              </a:defRPr>
            </a:pPr>
            <a:r>
              <a:t>Backend &amp; Real-Time Systems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179576"/>
            <a:ext cx="11045952" cy="18288"/>
          </a:xfrm>
          <a:prstGeom prst="rect">
            <a:avLst/>
          </a:prstGeom>
          <a:solidFill>
            <a:srgbClr val="48FF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0" y="566928"/>
            <a:ext cx="1097280" cy="45720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>
              <a:defRPr sz="1100" b="1">
                <a:solidFill>
                  <a:srgbClr val="94A3B8"/>
                </a:solidFill>
                <a:latin typeface="Segoe UI"/>
              </a:defRPr>
            </a:pPr>
            <a:r>
              <a:t>12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45920"/>
            <a:ext cx="3328416" cy="4114800"/>
          </a:xfrm>
          <a:prstGeom prst="roundRect">
            <a:avLst/>
          </a:prstGeom>
          <a:solidFill>
            <a:srgbClr val="0F2843"/>
          </a:solidFill>
          <a:ln w="19050">
            <a:solidFill>
              <a:srgbClr val="48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8FFD5"/>
                </a:solidFill>
                <a:latin typeface="Segoe UI"/>
              </a:defRPr>
            </a:pPr>
            <a:r>
              <a:t>Database &amp; Storage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Stores structured collections for profiles, listings, and bookings.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Custom filters retrieve items quickly based on campus tags.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Links related records without creating duplicate profiles.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25696" y="1645920"/>
            <a:ext cx="3328416" cy="4114800"/>
          </a:xfrm>
          <a:prstGeom prst="roundRect">
            <a:avLst/>
          </a:prstGeom>
          <a:solidFill>
            <a:srgbClr val="0F2843"/>
          </a:solidFill>
          <a:ln w="19050">
            <a:solidFill>
              <a:srgbClr val="48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54296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8FFD5"/>
                </a:solidFill>
                <a:latin typeface="Segoe UI"/>
              </a:defRPr>
            </a:pPr>
            <a:r>
              <a:t>Real-Time Chat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Runs full-duplex socket channels for instant peer message delivery.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Shows typing state feedback and online status updates.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Processes rental offers and meetup sites during live negotiations.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1645920"/>
            <a:ext cx="3328416" cy="4114800"/>
          </a:xfrm>
          <a:prstGeom prst="roundRect">
            <a:avLst/>
          </a:prstGeom>
          <a:solidFill>
            <a:srgbClr val="0F2843"/>
          </a:solidFill>
          <a:ln w="19050">
            <a:solidFill>
              <a:srgbClr val="48FF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1874520"/>
            <a:ext cx="2871216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400" b="1">
                <a:solidFill>
                  <a:srgbClr val="48FFD5"/>
                </a:solidFill>
                <a:latin typeface="Segoe UI"/>
              </a:defRPr>
            </a:pPr>
            <a:r>
              <a:t>Architecture &amp; Quality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Segregates front and back systems to keep the files readable.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Enforces strict code quality linters for clean compilation.</a:t>
            </a:r>
          </a:p>
          <a:p>
            <a:pPr>
              <a:spcAft>
                <a:spcPts val="800"/>
              </a:spcAft>
              <a:defRPr sz="1100">
                <a:solidFill>
                  <a:srgbClr val="FFFFFF"/>
                </a:solidFill>
                <a:latin typeface="Segoe UI"/>
              </a:defRPr>
            </a:pPr>
            <a:r>
              <a:t>• Safeguards database stability with automatic standalone fallbacks.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